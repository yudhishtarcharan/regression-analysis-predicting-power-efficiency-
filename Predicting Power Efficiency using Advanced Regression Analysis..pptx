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Playfair Displ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949003-700E-45B2-B1F0-964C1B34ACB8}">
  <a:tblStyle styleId="{32949003-700E-45B2-B1F0-964C1B34AC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17FAD2A-D3A0-432C-810D-E6052CBED20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layfairDispl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layfairDisplay-bold.fntdata"/><Relationship Id="rId18" Type="http://schemas.openxmlformats.org/officeDocument/2006/relationships/font" Target="fonts/PlayfairDis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8ae9eb0e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8ae9eb0e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8ae9eb0e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8ae9eb0e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8ae9eb0e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8ae9eb0e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8ae9eb0e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8ae9eb0e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8ae9eb0e1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8ae9eb0e1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8ae9eb0e1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8ae9eb0e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98ae9eb0e1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98ae9eb0e1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8ae9eb0e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8ae9eb0e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8ae9eb0e1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8ae9eb0e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8ae9eb0e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8ae9eb0e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Power Efficiency using Advanced Regression Analysis.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By Yudhishtar Charan</a:t>
            </a:r>
            <a:endParaRPr sz="1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graphicFrame>
        <p:nvGraphicFramePr>
          <p:cNvPr id="66" name="Google Shape;66;p14"/>
          <p:cNvGraphicFramePr/>
          <p:nvPr/>
        </p:nvGraphicFramePr>
        <p:xfrm>
          <a:off x="537965" y="1256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{32949003-700E-45B2-B1F0-964C1B34ACB8}</a:tableStyleId>
              </a:tblPr>
              <a:tblGrid>
                <a:gridCol w="3641650"/>
                <a:gridCol w="4426425"/>
              </a:tblGrid>
              <a:tr h="21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Feature Name</a:t>
                      </a:r>
                      <a:endParaRPr b="1"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b="1" sz="1100"/>
                    </a:p>
                  </a:txBody>
                  <a:tcPr marT="63500" marB="63500" marR="63500" marL="63500"/>
                </a:tc>
              </a:tr>
              <a:tr h="22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Feature_1,</a:t>
                      </a:r>
                      <a:r>
                        <a:rPr lang="en" sz="1100"/>
                        <a:t>Feature_2,Feature_4,Feature_5,Feature_6,Feature_8,Feature_9, Feature_10, Feature_12, Feature_13,Feature_14, Feature_15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Numerical feature (mean ~0, std ~1  with some outliers present)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2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Feature_3, Feature_7, Feature_11</a:t>
                      </a:r>
                      <a:endParaRPr sz="11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	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Numerical feature with missing values (10%) , Numerical feature (mean ~0, std ~1)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480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Device_Type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Categorical feature with 4 categories: Sensor, Actuator, Controller, Gateway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214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Environment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Categorical feature with 4 categories: Indoor, Outdoor, Industrial, Residential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58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Power_Efficiency	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Continuous numerical target (mean ~103.12, std ~177.86, range approx. -611.05 to 792.30)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and formatting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495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duplicates found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have imputed nan values with median.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Removing Outliers using IQR method is dropping ~16% data and Z-score clipping ~5% data so we will use Z-score.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2488" y="1025362"/>
            <a:ext cx="2886075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Univariate analysis for Object Data type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698" y="1147750"/>
            <a:ext cx="3379275" cy="333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7850" y="1180675"/>
            <a:ext cx="3318474" cy="330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Bivariate analysis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3540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 All numerical features are relatively independent further hinting at PCA or similar technique being used. No correlation found between different features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Power_Efficiency is correlated to features 14,15,11,7 and 3 (with some weak correlation with 1,5,6)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1475" y="391350"/>
            <a:ext cx="4833050" cy="448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239425" y="391350"/>
            <a:ext cx="86484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Power_Efficiency by device type and Environment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766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'device type' 'actuators' have max. avg. Power_efficency while in 'environment' 'industrial' and 'indoor' have max. avg. Power_efficency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200" y="1960444"/>
            <a:ext cx="2931025" cy="282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7200" y="1985144"/>
            <a:ext cx="2931025" cy="2785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Device type and </a:t>
            </a:r>
            <a:r>
              <a:rPr lang="en"/>
              <a:t>Environment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184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Crosstab values of both object object dtypes have ~600 in each segment so no trend seen.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1300" y="1851508"/>
            <a:ext cx="3123826" cy="298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analysis of features impact on Target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Device type does have difference in Power_Efficency (p value = 0.001) .</a:t>
            </a:r>
            <a:r>
              <a:rPr lang="en"/>
              <a:t>however it doesn’t mean it contributes to the target’s variance significantly.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Environment category </a:t>
            </a:r>
            <a:r>
              <a:rPr lang="en"/>
              <a:t>does have difference in Power_Efficency ( p value = 0.003) however it doesn’t mean it contributes to the target’s variance significantly.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mutual information score, correlation and Variance inflation factor we have arrived at these features for model training = ['Feature_1', 'Feature_3', 'Feature_5', 'Feature_6', 'Feature_7','Feature_11', 'Feature_14', 'Feature_15']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trained and metrics</a:t>
            </a:r>
            <a:endParaRPr/>
          </a:p>
        </p:txBody>
      </p:sp>
      <p:graphicFrame>
        <p:nvGraphicFramePr>
          <p:cNvPr id="114" name="Google Shape;114;p21"/>
          <p:cNvGraphicFramePr/>
          <p:nvPr/>
        </p:nvGraphicFramePr>
        <p:xfrm>
          <a:off x="498425" y="101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{917FAD2A-D3A0-432C-810D-E6052CBED200}</a:tableStyleId>
              </a:tblPr>
              <a:tblGrid>
                <a:gridCol w="1951800"/>
                <a:gridCol w="2323500"/>
                <a:gridCol w="2096375"/>
                <a:gridCol w="2096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Model Name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R2 Score (Test and Train)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Mean Squared Error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Hyperparameters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Linear Regression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(0.94 and 0.94)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1835.6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Lasso </a:t>
                      </a:r>
                      <a:r>
                        <a:rPr lang="en"/>
                        <a:t>Regression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(0.95 and 0.94)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1692.2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'alpha': 0.01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Ridge Regression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(0.95 and 0.94)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1692.2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'alpha': 1.0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KNN </a:t>
                      </a:r>
                      <a:r>
                        <a:rPr lang="en"/>
                        <a:t>Regression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(0.86 and 0.85)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4000.8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'n_neighbors': 13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Decision Tree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Below cutoff (0.62)*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Random Forest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Below cutoff (0.82)*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XGBRegressor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2228.5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'learning_rate': 0.1, 'max_depth': 3, 'n_estimators': 200</a:t>
                      </a:r>
                      <a:endParaRPr sz="1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Gradient Boosting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2196.0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'subsample': 0.9, 'n_estimators': 200, 'min_samples_split': 10, 'min_samples_leaf': 2, 'max_depth': 3, 'learning_rate': 0.1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15" name="Google Shape;115;p21"/>
          <p:cNvSpPr txBox="1"/>
          <p:nvPr/>
        </p:nvSpPr>
        <p:spPr>
          <a:xfrm>
            <a:off x="5606125" y="613050"/>
            <a:ext cx="19815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Model Selection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4334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chosen L2 over L1 (Ridge over Lasso) for the following reasons: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All features left in the model after feature selection</a:t>
            </a:r>
            <a:r>
              <a:rPr lang="en"/>
              <a:t> are useful  but we want to reduce overfitting while ensuring robustness and stability.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33974" y="843303"/>
            <a:ext cx="4093949" cy="314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5353003" y="4092303"/>
            <a:ext cx="31167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Actual vs Predicted curve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1522350" y="1640350"/>
            <a:ext cx="6099300" cy="16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8480"/>
              <a:t>Thank You</a:t>
            </a:r>
            <a:endParaRPr sz="84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